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4" r:id="rId1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  <Relationship Id="rId15" Type="http://schemas.openxmlformats.org/officeDocument/2006/relationships/slide" Target="slides/slide9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8569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-1" y="1908386"/>
            <a:ext cx="12191695" cy="2282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kern="0" spc="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AuTo-DePloy</a:t>
            </a:r>
            <a:endParaRPr lang="en-US" sz="9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Installer depuis les sources reste un frein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96596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  <a:spcAft>
                <a:spcPts val="1400"/>
              </a:spcAft>
              <a:buSzPct val="100000"/>
            </a:pPr>
            <a:r>
              <a:rPr lang="en-US" sz="1450" u="sng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Classique </a:t>
            </a:r>
            <a:r>
              <a:rPr lang="en-US" sz="14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285750" indent="-285750">
              <a:lnSpc>
                <a:spcPct val="108000"/>
              </a:lnSpc>
              <a:spcAft>
                <a:spcPts val="1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50" dirty="0" err="1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Décompresser</a:t>
            </a:r>
            <a:r>
              <a:rPr lang="en-US" sz="14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l’archive</a:t>
            </a:r>
            <a:endParaRPr lang="en-US" sz="1450" dirty="0">
              <a:solidFill>
                <a:srgbClr val="E7ECE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08000"/>
              </a:lnSpc>
              <a:spcAft>
                <a:spcPts val="1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50" dirty="0" err="1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Entrer</a:t>
            </a:r>
            <a:r>
              <a:rPr lang="en-US" sz="14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le dossier </a:t>
            </a:r>
            <a:r>
              <a:rPr lang="en-US" sz="1450" dirty="0" err="1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décompressé</a:t>
            </a:r>
            <a:endParaRPr lang="en-US" sz="1450" dirty="0">
              <a:solidFill>
                <a:srgbClr val="E7ECE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08000"/>
              </a:lnSpc>
              <a:spcAft>
                <a:spcPts val="1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</a:t>
            </a:r>
            <a:r>
              <a:rPr lang="en-US" sz="1450" dirty="0" err="1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s'il</a:t>
            </a:r>
            <a:r>
              <a:rPr lang="en-US" sz="14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a </a:t>
            </a:r>
            <a:r>
              <a:rPr lang="en-US" sz="1450" dirty="0" err="1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</a:t>
            </a:r>
            <a:r>
              <a:rPr lang="en-US" sz="14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configure </a:t>
            </a:r>
            <a:r>
              <a:rPr lang="en-US" sz="1450" dirty="0" err="1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4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</a:t>
            </a:r>
          </a:p>
          <a:p>
            <a:pPr marL="285750" indent="-285750">
              <a:lnSpc>
                <a:spcPct val="108000"/>
              </a:lnSpc>
              <a:spcAft>
                <a:spcPts val="1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Résoudre</a:t>
            </a:r>
            <a:r>
              <a:rPr lang="en-US" sz="14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</a:t>
            </a:r>
            <a:r>
              <a:rPr lang="en-US" sz="1450" dirty="0" err="1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problèmes</a:t>
            </a:r>
            <a:r>
              <a:rPr lang="en-US" sz="14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dépendances</a:t>
            </a:r>
            <a:endParaRPr lang="en-US" sz="1450" dirty="0">
              <a:solidFill>
                <a:srgbClr val="E7ECE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08000"/>
              </a:lnSpc>
              <a:spcAft>
                <a:spcPts val="1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</a:p>
          <a:p>
            <a:pPr marL="285750" indent="-285750">
              <a:lnSpc>
                <a:spcPct val="108000"/>
              </a:lnSpc>
              <a:spcAft>
                <a:spcPts val="1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</a:t>
            </a:r>
          </a:p>
          <a:p>
            <a:pPr>
              <a:lnSpc>
                <a:spcPct val="108000"/>
              </a:lnSpc>
              <a:spcAft>
                <a:spcPts val="1400"/>
              </a:spcAft>
              <a:buSzPct val="100000"/>
            </a:pPr>
            <a:endParaRPr lang="en-US" sz="1450" dirty="0">
              <a:solidFill>
                <a:srgbClr val="E7ECE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08000"/>
              </a:lnSpc>
              <a:spcAft>
                <a:spcPts val="1400"/>
              </a:spcAft>
              <a:buSzPct val="100000"/>
            </a:pPr>
            <a:r>
              <a:rPr lang="en-US" sz="14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ATDP ? Il </a:t>
            </a:r>
            <a:r>
              <a:rPr lang="en-US" sz="1450" dirty="0" err="1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</a:t>
            </a:r>
            <a:r>
              <a:rPr lang="en-US" sz="14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</a:t>
            </a:r>
            <a:r>
              <a:rPr lang="en-US" sz="14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</a:t>
            </a:r>
            <a:r>
              <a:rPr lang="en-US" sz="14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tâches</a:t>
            </a:r>
          </a:p>
          <a:p>
            <a:pPr marL="285750" indent="-285750">
              <a:lnSpc>
                <a:spcPct val="108000"/>
              </a:lnSpc>
              <a:spcAft>
                <a:spcPts val="1400"/>
              </a:spcAft>
              <a:buSzPct val="100000"/>
              <a:buFont typeface="Arial" panose="020B0604020202020204" pitchFamily="34" charset="0"/>
              <a:buChar char="•"/>
            </a:pP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qu'ATDP doit accomplir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543228" y="2103120"/>
            <a:ext cx="2032345" cy="3931920"/>
          </a:xfrm>
          <a:prstGeom prst="roundRect">
            <a:avLst>
              <a:gd name="adj" fmla="val 3149"/>
            </a:avLst>
          </a:prstGeom>
          <a:solidFill>
            <a:srgbClr val="262B30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5" name="Shape 3"/>
          <p:cNvSpPr/>
          <p:nvPr/>
        </p:nvSpPr>
        <p:spPr>
          <a:xfrm>
            <a:off x="3330800" y="2457704"/>
            <a:ext cx="457200" cy="457200"/>
          </a:xfrm>
          <a:prstGeom prst="ellipse">
            <a:avLst/>
          </a:prstGeom>
          <a:solidFill>
            <a:srgbClr val="3ED598"/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6" name="Image 0" descr="slide_assets/icon_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530" y="2507996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07819" y="3063240"/>
            <a:ext cx="170316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l'installation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707818" y="3931920"/>
            <a:ext cx="1703161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n'importe quelle archive source (.tar.gz, .tar.xz, .zip, .7z…), sans intervention manuelle.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997379" y="2103120"/>
            <a:ext cx="2032345" cy="3931920"/>
          </a:xfrm>
          <a:prstGeom prst="roundRect">
            <a:avLst>
              <a:gd name="adj" fmla="val 3149"/>
            </a:avLst>
          </a:prstGeom>
          <a:solidFill>
            <a:srgbClr val="262B30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84951" y="2473452"/>
            <a:ext cx="457200" cy="457200"/>
          </a:xfrm>
          <a:prstGeom prst="ellipse">
            <a:avLst/>
          </a:prstGeom>
          <a:solidFill>
            <a:srgbClr val="3ED598"/>
          </a:solidFill>
          <a:ln/>
        </p:spPr>
      </p:sp>
      <p:pic>
        <p:nvPicPr>
          <p:cNvPr id="11" name="Image 1" descr="slide_assets/icon_dete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5243" y="2507996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1970" y="3063240"/>
            <a:ext cx="170316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seul le build system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161969" y="3931920"/>
            <a:ext cx="1703161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Reconnaître automatiquement Meson, CMake, Cargo, Go, Autotools, etc. à partir des fichiers du projet.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368053" y="2103120"/>
            <a:ext cx="2032345" cy="3931920"/>
          </a:xfrm>
          <a:prstGeom prst="roundRect">
            <a:avLst>
              <a:gd name="adj" fmla="val 3149"/>
            </a:avLst>
          </a:prstGeom>
          <a:solidFill>
            <a:srgbClr val="262B30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55625" y="2473452"/>
            <a:ext cx="457200" cy="457200"/>
          </a:xfrm>
          <a:prstGeom prst="ellipse">
            <a:avLst/>
          </a:prstGeom>
          <a:solidFill>
            <a:srgbClr val="3ED598"/>
          </a:solidFill>
          <a:ln/>
        </p:spPr>
      </p:sp>
      <p:pic>
        <p:nvPicPr>
          <p:cNvPr id="16" name="Image 2" descr="slide_assets/icon_dependan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5917" y="2523744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532644" y="3058669"/>
            <a:ext cx="170316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Résoudre les dépendances manquantes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532643" y="3931920"/>
            <a:ext cx="1703161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Interpréter les erreurs de compilation et installer automatiquement ce qu'il manque.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pipeline séquentiel en 12 phases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377440"/>
            <a:ext cx="1727149" cy="1143000"/>
          </a:xfrm>
          <a:prstGeom prst="roundRect">
            <a:avLst>
              <a:gd name="adj" fmla="val 5600"/>
            </a:avLst>
          </a:prstGeom>
          <a:solidFill>
            <a:srgbClr val="262B30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24323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D5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12648" y="2761488"/>
            <a:ext cx="15076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</a:t>
            </a:r>
            <a:endParaRPr lang="en-US" sz="10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230069" y="2377440"/>
            <a:ext cx="164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94661" y="2377440"/>
            <a:ext cx="1727149" cy="1143000"/>
          </a:xfrm>
          <a:prstGeom prst="roundRect">
            <a:avLst>
              <a:gd name="adj" fmla="val 5600"/>
            </a:avLst>
          </a:prstGeom>
          <a:solidFill>
            <a:srgbClr val="262B30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86101" y="24323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D5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04389" y="2761488"/>
            <a:ext cx="15076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</a:t>
            </a:r>
            <a:endParaRPr lang="en-US" sz="10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mode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21810" y="2377440"/>
            <a:ext cx="164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86402" y="2377440"/>
            <a:ext cx="1727149" cy="1143000"/>
          </a:xfrm>
          <a:prstGeom prst="roundRect">
            <a:avLst>
              <a:gd name="adj" fmla="val 5600"/>
            </a:avLst>
          </a:prstGeom>
          <a:solidFill>
            <a:srgbClr val="262B30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77842" y="24323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D5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96130" y="2761488"/>
            <a:ext cx="15076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Téléchargement</a:t>
            </a:r>
            <a:endParaRPr lang="en-US" sz="10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validation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13552" y="2377440"/>
            <a:ext cx="164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8144" y="2377440"/>
            <a:ext cx="1727149" cy="1143000"/>
          </a:xfrm>
          <a:prstGeom prst="roundRect">
            <a:avLst>
              <a:gd name="adj" fmla="val 5600"/>
            </a:avLst>
          </a:prstGeom>
          <a:solidFill>
            <a:srgbClr val="262B30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69584" y="24323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D5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87872" y="2761488"/>
            <a:ext cx="15076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05293" y="2377440"/>
            <a:ext cx="164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69885" y="2377440"/>
            <a:ext cx="1727149" cy="1143000"/>
          </a:xfrm>
          <a:prstGeom prst="roundRect">
            <a:avLst>
              <a:gd name="adj" fmla="val 5600"/>
            </a:avLst>
          </a:prstGeom>
          <a:solidFill>
            <a:srgbClr val="262B30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61325" y="24323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D5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79613" y="2761488"/>
            <a:ext cx="15076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</a:t>
            </a:r>
            <a:endParaRPr lang="en-US" sz="10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projet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797034" y="2377440"/>
            <a:ext cx="164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961626" y="2377440"/>
            <a:ext cx="1727149" cy="1143000"/>
          </a:xfrm>
          <a:prstGeom prst="roundRect">
            <a:avLst>
              <a:gd name="adj" fmla="val 5600"/>
            </a:avLst>
          </a:prstGeom>
          <a:solidFill>
            <a:srgbClr val="262B30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053066" y="24323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D5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71354" y="2761488"/>
            <a:ext cx="15076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du</a:t>
            </a:r>
            <a:endParaRPr lang="en-US" sz="10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system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3886200"/>
            <a:ext cx="1727149" cy="1143000"/>
          </a:xfrm>
          <a:prstGeom prst="roundRect">
            <a:avLst>
              <a:gd name="adj" fmla="val 5600"/>
            </a:avLst>
          </a:prstGeom>
          <a:solidFill>
            <a:srgbClr val="262B30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4360" y="39410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A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2648" y="4270248"/>
            <a:ext cx="15076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Dépendances</a:t>
            </a:r>
            <a:endParaRPr lang="en-US" sz="10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compilation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230069" y="3886200"/>
            <a:ext cx="164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394661" y="3886200"/>
            <a:ext cx="1727149" cy="1143000"/>
          </a:xfrm>
          <a:prstGeom prst="roundRect">
            <a:avLst>
              <a:gd name="adj" fmla="val 5600"/>
            </a:avLst>
          </a:prstGeom>
          <a:solidFill>
            <a:srgbClr val="262B30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486101" y="39410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A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504389" y="4270248"/>
            <a:ext cx="15076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</a:t>
            </a:r>
            <a:endParaRPr lang="en-US" sz="10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post-build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121810" y="3886200"/>
            <a:ext cx="164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286402" y="3886200"/>
            <a:ext cx="1727149" cy="1143000"/>
          </a:xfrm>
          <a:prstGeom prst="roundRect">
            <a:avLst>
              <a:gd name="adj" fmla="val 5600"/>
            </a:avLst>
          </a:prstGeom>
          <a:solidFill>
            <a:srgbClr val="262B30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377842" y="39410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A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396130" y="4270248"/>
            <a:ext cx="15076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013552" y="3886200"/>
            <a:ext cx="164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178144" y="3886200"/>
            <a:ext cx="1727149" cy="1143000"/>
          </a:xfrm>
          <a:prstGeom prst="roundRect">
            <a:avLst>
              <a:gd name="adj" fmla="val 5600"/>
            </a:avLst>
          </a:prstGeom>
          <a:solidFill>
            <a:srgbClr val="262B30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269584" y="39410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A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287872" y="4270248"/>
            <a:ext cx="15076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</a:t>
            </a:r>
            <a:endParaRPr lang="en-US" sz="10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905293" y="3886200"/>
            <a:ext cx="164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8069885" y="3886200"/>
            <a:ext cx="1727149" cy="1143000"/>
          </a:xfrm>
          <a:prstGeom prst="roundRect">
            <a:avLst>
              <a:gd name="adj" fmla="val 5600"/>
            </a:avLst>
          </a:prstGeom>
          <a:solidFill>
            <a:srgbClr val="262B30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161325" y="39410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A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179613" y="4270248"/>
            <a:ext cx="15076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797034" y="3886200"/>
            <a:ext cx="164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961626" y="3886200"/>
            <a:ext cx="1727149" cy="1143000"/>
          </a:xfrm>
          <a:prstGeom prst="roundRect">
            <a:avLst>
              <a:gd name="adj" fmla="val 5600"/>
            </a:avLst>
          </a:prstGeom>
          <a:solidFill>
            <a:srgbClr val="262B30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10053066" y="39410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A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071354" y="4270248"/>
            <a:ext cx="15076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</a:t>
            </a:r>
            <a:endParaRPr lang="en-US" sz="10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02920" y="525780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phase valide la précédente avant de continuer — en cas d'échec, un rollback propre est déclenché.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CLÉ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Détection automatique du système de compilation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93776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fichier détecté à la racine du projet suffit à choisir la bonne stratégie de build.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3576218" cy="960120"/>
          </a:xfrm>
          <a:prstGeom prst="roundRect">
            <a:avLst>
              <a:gd name="adj" fmla="val 6667"/>
            </a:avLst>
          </a:prstGeom>
          <a:solidFill>
            <a:srgbClr val="262B30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491740"/>
            <a:ext cx="365760" cy="365760"/>
          </a:xfrm>
          <a:prstGeom prst="ellipse">
            <a:avLst/>
          </a:prstGeom>
          <a:solidFill>
            <a:srgbClr val="4FA3E3"/>
          </a:solidFill>
          <a:ln/>
        </p:spPr>
      </p:sp>
      <p:pic>
        <p:nvPicPr>
          <p:cNvPr id="7" name="Image 0" descr="slide_assets/icon_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34" y="253197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2322576"/>
            <a:ext cx="2707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ED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meson.build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88720" y="2688336"/>
            <a:ext cx="2707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Meson + Ninja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07738" y="2194560"/>
            <a:ext cx="3576218" cy="960120"/>
          </a:xfrm>
          <a:prstGeom prst="roundRect">
            <a:avLst>
              <a:gd name="adj" fmla="val 6667"/>
            </a:avLst>
          </a:prstGeom>
          <a:solidFill>
            <a:srgbClr val="262B30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90618" y="2491740"/>
            <a:ext cx="365760" cy="365760"/>
          </a:xfrm>
          <a:prstGeom prst="ellipse">
            <a:avLst/>
          </a:prstGeom>
          <a:solidFill>
            <a:srgbClr val="4FA3E3"/>
          </a:solidFill>
          <a:ln/>
        </p:spPr>
      </p:sp>
      <p:pic>
        <p:nvPicPr>
          <p:cNvPr id="12" name="Image 1" descr="slide_assets/icon_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53197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93538" y="2322576"/>
            <a:ext cx="2707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ED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CMakeLists.txt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993538" y="2688336"/>
            <a:ext cx="2707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CMake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12557" y="2194560"/>
            <a:ext cx="3576218" cy="960120"/>
          </a:xfrm>
          <a:prstGeom prst="roundRect">
            <a:avLst>
              <a:gd name="adj" fmla="val 6667"/>
            </a:avLst>
          </a:prstGeom>
          <a:solidFill>
            <a:srgbClr val="262B30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95437" y="2491740"/>
            <a:ext cx="365760" cy="365760"/>
          </a:xfrm>
          <a:prstGeom prst="ellipse">
            <a:avLst/>
          </a:prstGeom>
          <a:solidFill>
            <a:srgbClr val="4FA3E3"/>
          </a:solidFill>
          <a:ln/>
        </p:spPr>
      </p:sp>
      <p:pic>
        <p:nvPicPr>
          <p:cNvPr id="17" name="Image 2" descr="slide_assets/icon_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5670" y="253197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98357" y="2322576"/>
            <a:ext cx="2707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ED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Cargo.toml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798357" y="2688336"/>
            <a:ext cx="2707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(Rust)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02920" y="3337560"/>
            <a:ext cx="3576218" cy="960120"/>
          </a:xfrm>
          <a:prstGeom prst="roundRect">
            <a:avLst>
              <a:gd name="adj" fmla="val 6667"/>
            </a:avLst>
          </a:prstGeom>
          <a:solidFill>
            <a:srgbClr val="262B30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85800" y="3634740"/>
            <a:ext cx="365760" cy="365760"/>
          </a:xfrm>
          <a:prstGeom prst="ellipse">
            <a:avLst/>
          </a:prstGeom>
          <a:solidFill>
            <a:srgbClr val="4FA3E3"/>
          </a:solidFill>
          <a:ln/>
        </p:spPr>
      </p:sp>
      <p:pic>
        <p:nvPicPr>
          <p:cNvPr id="22" name="Image 3" descr="slide_assets/icon_term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034" y="3674974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88720" y="3465576"/>
            <a:ext cx="2707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ED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go.mod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88720" y="3831336"/>
            <a:ext cx="2707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07738" y="3337560"/>
            <a:ext cx="3576218" cy="960120"/>
          </a:xfrm>
          <a:prstGeom prst="roundRect">
            <a:avLst>
              <a:gd name="adj" fmla="val 6667"/>
            </a:avLst>
          </a:prstGeom>
          <a:solidFill>
            <a:srgbClr val="262B30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490618" y="3634740"/>
            <a:ext cx="365760" cy="365760"/>
          </a:xfrm>
          <a:prstGeom prst="ellipse">
            <a:avLst/>
          </a:prstGeom>
          <a:solidFill>
            <a:srgbClr val="4FA3E3"/>
          </a:solidFill>
          <a:ln/>
        </p:spPr>
      </p:sp>
      <p:pic>
        <p:nvPicPr>
          <p:cNvPr id="27" name="Image 4" descr="slide_assets/icon_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852" y="3674974"/>
            <a:ext cx="285293" cy="28529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993538" y="3465576"/>
            <a:ext cx="2707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ED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package.json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993538" y="3831336"/>
            <a:ext cx="2707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(npm)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112557" y="3337560"/>
            <a:ext cx="3576218" cy="960120"/>
          </a:xfrm>
          <a:prstGeom prst="roundRect">
            <a:avLst>
              <a:gd name="adj" fmla="val 6667"/>
            </a:avLst>
          </a:prstGeom>
          <a:solidFill>
            <a:srgbClr val="262B30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295437" y="3634740"/>
            <a:ext cx="365760" cy="365760"/>
          </a:xfrm>
          <a:prstGeom prst="ellipse">
            <a:avLst/>
          </a:prstGeom>
          <a:solidFill>
            <a:srgbClr val="4FA3E3"/>
          </a:solidFill>
          <a:ln/>
        </p:spPr>
      </p:sp>
      <p:pic>
        <p:nvPicPr>
          <p:cNvPr id="32" name="Image 5" descr="slide_assets/icon_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670" y="3674974"/>
            <a:ext cx="285293" cy="285293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798357" y="3465576"/>
            <a:ext cx="2707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ED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setup.py / pyproject.toml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798357" y="3831336"/>
            <a:ext cx="2707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502920" y="4480560"/>
            <a:ext cx="3576218" cy="960120"/>
          </a:xfrm>
          <a:prstGeom prst="roundRect">
            <a:avLst>
              <a:gd name="adj" fmla="val 6667"/>
            </a:avLst>
          </a:prstGeom>
          <a:solidFill>
            <a:srgbClr val="262B30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85800" y="4777740"/>
            <a:ext cx="365760" cy="365760"/>
          </a:xfrm>
          <a:prstGeom prst="ellipse">
            <a:avLst/>
          </a:prstGeom>
          <a:solidFill>
            <a:srgbClr val="4FA3E3"/>
          </a:solidFill>
          <a:ln/>
        </p:spPr>
      </p:sp>
      <p:pic>
        <p:nvPicPr>
          <p:cNvPr id="37" name="Image 6" descr="slide_assets/icon_term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034" y="4817974"/>
            <a:ext cx="285293" cy="285293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188720" y="4608576"/>
            <a:ext cx="2707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ED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SConstruct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1188720" y="4974336"/>
            <a:ext cx="2707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SCons</a:t>
            </a:r>
            <a:endParaRPr lang="en-US" sz="1150" dirty="0"/>
          </a:p>
        </p:txBody>
      </p:sp>
      <p:sp>
        <p:nvSpPr>
          <p:cNvPr id="40" name="Shape 31"/>
          <p:cNvSpPr/>
          <p:nvPr/>
        </p:nvSpPr>
        <p:spPr>
          <a:xfrm>
            <a:off x="4307738" y="4480560"/>
            <a:ext cx="3576218" cy="960120"/>
          </a:xfrm>
          <a:prstGeom prst="roundRect">
            <a:avLst>
              <a:gd name="adj" fmla="val 6667"/>
            </a:avLst>
          </a:prstGeom>
          <a:solidFill>
            <a:srgbClr val="262B30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4490618" y="4777740"/>
            <a:ext cx="365760" cy="365760"/>
          </a:xfrm>
          <a:prstGeom prst="ellipse">
            <a:avLst/>
          </a:prstGeom>
          <a:solidFill>
            <a:srgbClr val="4FA3E3"/>
          </a:solidFill>
          <a:ln/>
        </p:spPr>
      </p:sp>
      <p:pic>
        <p:nvPicPr>
          <p:cNvPr id="42" name="Image 7" descr="slide_assets/icon_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4817974"/>
            <a:ext cx="285293" cy="285293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4993538" y="4608576"/>
            <a:ext cx="2707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ED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configure / Makefile.am</a:t>
            </a:r>
            <a:endParaRPr lang="en-US" sz="1250" dirty="0"/>
          </a:p>
        </p:txBody>
      </p:sp>
      <p:sp>
        <p:nvSpPr>
          <p:cNvPr id="44" name="Text 34"/>
          <p:cNvSpPr/>
          <p:nvPr/>
        </p:nvSpPr>
        <p:spPr>
          <a:xfrm>
            <a:off x="4993538" y="4974336"/>
            <a:ext cx="2707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GNU Autotools</a:t>
            </a:r>
            <a:endParaRPr lang="en-US" sz="1150" dirty="0"/>
          </a:p>
        </p:txBody>
      </p:sp>
      <p:sp>
        <p:nvSpPr>
          <p:cNvPr id="45" name="Shape 35"/>
          <p:cNvSpPr/>
          <p:nvPr/>
        </p:nvSpPr>
        <p:spPr>
          <a:xfrm>
            <a:off x="8112557" y="4480560"/>
            <a:ext cx="3576218" cy="960120"/>
          </a:xfrm>
          <a:prstGeom prst="roundRect">
            <a:avLst>
              <a:gd name="adj" fmla="val 6667"/>
            </a:avLst>
          </a:prstGeom>
          <a:solidFill>
            <a:srgbClr val="262B30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6" name="Shape 36"/>
          <p:cNvSpPr/>
          <p:nvPr/>
        </p:nvSpPr>
        <p:spPr>
          <a:xfrm>
            <a:off x="8295437" y="4777740"/>
            <a:ext cx="365760" cy="365760"/>
          </a:xfrm>
          <a:prstGeom prst="ellipse">
            <a:avLst/>
          </a:prstGeom>
          <a:solidFill>
            <a:srgbClr val="4FA3E3"/>
          </a:solidFill>
          <a:ln/>
        </p:spPr>
      </p:sp>
      <p:pic>
        <p:nvPicPr>
          <p:cNvPr id="47" name="Image 8" descr="slide_assets/icon_term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5670" y="4817974"/>
            <a:ext cx="285293" cy="285293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8798357" y="4608576"/>
            <a:ext cx="2707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ED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Makefile (seul)</a:t>
            </a:r>
            <a:endParaRPr lang="en-US" sz="1250" dirty="0"/>
          </a:p>
        </p:txBody>
      </p:sp>
      <p:sp>
        <p:nvSpPr>
          <p:cNvPr id="49" name="Text 38"/>
          <p:cNvSpPr/>
          <p:nvPr/>
        </p:nvSpPr>
        <p:spPr>
          <a:xfrm>
            <a:off x="8798357" y="4974336"/>
            <a:ext cx="2707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classique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Résolution intelligente des dépendances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377440"/>
            <a:ext cx="2522144" cy="2468880"/>
          </a:xfrm>
          <a:prstGeom prst="roundRect">
            <a:avLst>
              <a:gd name="adj" fmla="val 2593"/>
            </a:avLst>
          </a:prstGeom>
          <a:solidFill>
            <a:srgbClr val="20252A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12532" y="2651760"/>
            <a:ext cx="502920" cy="502920"/>
          </a:xfrm>
          <a:prstGeom prst="ellipse">
            <a:avLst/>
          </a:prstGeom>
          <a:solidFill>
            <a:srgbClr val="4FA3E3"/>
          </a:solidFill>
          <a:ln/>
        </p:spPr>
      </p:sp>
      <p:pic>
        <p:nvPicPr>
          <p:cNvPr id="6" name="Image 0" descr="slide_assets/icon_b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853" y="2707081"/>
            <a:ext cx="392278" cy="39227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337560"/>
            <a:ext cx="224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de compilation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67512" y="3840480"/>
            <a:ext cx="219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manquant, erreur pkg-config, symbole non résolu (-lXXX)…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025064" y="2377440"/>
            <a:ext cx="365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390824" y="2377440"/>
            <a:ext cx="2522144" cy="2468880"/>
          </a:xfrm>
          <a:prstGeom prst="roundRect">
            <a:avLst>
              <a:gd name="adj" fmla="val 2593"/>
            </a:avLst>
          </a:prstGeom>
          <a:solidFill>
            <a:srgbClr val="20252A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00436" y="2651760"/>
            <a:ext cx="502920" cy="502920"/>
          </a:xfrm>
          <a:prstGeom prst="ellipse">
            <a:avLst/>
          </a:prstGeom>
          <a:solidFill>
            <a:srgbClr val="4FA3E3"/>
          </a:solidFill>
          <a:ln/>
        </p:spPr>
      </p:sp>
      <p:pic>
        <p:nvPicPr>
          <p:cNvPr id="12" name="Image 1" descr="slide_assets/icon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5757" y="2707081"/>
            <a:ext cx="392278" cy="39227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7984" y="3337560"/>
            <a:ext cx="224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Correspondance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555416" y="3840480"/>
            <a:ext cx="219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dans une base interne de 300+ entrées (fichier ↔ paquet).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912968" y="2377440"/>
            <a:ext cx="365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278728" y="2377440"/>
            <a:ext cx="2522144" cy="2468880"/>
          </a:xfrm>
          <a:prstGeom prst="roundRect">
            <a:avLst>
              <a:gd name="adj" fmla="val 2593"/>
            </a:avLst>
          </a:prstGeom>
          <a:solidFill>
            <a:srgbClr val="20252A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88340" y="2651760"/>
            <a:ext cx="502920" cy="502920"/>
          </a:xfrm>
          <a:prstGeom prst="ellipse">
            <a:avLst/>
          </a:prstGeom>
          <a:solidFill>
            <a:srgbClr val="4FA3E3"/>
          </a:solidFill>
          <a:ln/>
        </p:spPr>
      </p:sp>
      <p:pic>
        <p:nvPicPr>
          <p:cNvPr id="18" name="Image 2" descr="slide_assets/icon_downlo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3661" y="2707081"/>
            <a:ext cx="392278" cy="39227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15888" y="3337560"/>
            <a:ext cx="224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du paquet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43320" y="3840480"/>
            <a:ext cx="219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automatique via le gestionnaire de paquets détecté.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800871" y="2377440"/>
            <a:ext cx="365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9166631" y="2377440"/>
            <a:ext cx="2522144" cy="2468880"/>
          </a:xfrm>
          <a:prstGeom prst="roundRect">
            <a:avLst>
              <a:gd name="adj" fmla="val 2593"/>
            </a:avLst>
          </a:prstGeom>
          <a:solidFill>
            <a:srgbClr val="20252A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176243" y="2651760"/>
            <a:ext cx="502920" cy="502920"/>
          </a:xfrm>
          <a:prstGeom prst="ellipse">
            <a:avLst/>
          </a:prstGeom>
          <a:solidFill>
            <a:srgbClr val="4FA3E3"/>
          </a:solidFill>
          <a:ln/>
        </p:spPr>
      </p:sp>
      <p:pic>
        <p:nvPicPr>
          <p:cNvPr id="24" name="Image 3" descr="slide_assets/icon_red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1565" y="2707081"/>
            <a:ext cx="392278" cy="39227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03791" y="3337560"/>
            <a:ext cx="224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 tentative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9331223" y="3840480"/>
            <a:ext cx="219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 la compilation — jusqu'à 8 tentatives successives.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02920" y="51663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script comprend pourquoi la compilation échoue — et corrige seul, sans intervention.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 VIE COMPLET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Registres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des installations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103120"/>
            <a:ext cx="5212080" cy="3840480"/>
          </a:xfrm>
          <a:prstGeom prst="roundRect">
            <a:avLst>
              <a:gd name="adj" fmla="val 1667"/>
            </a:avLst>
          </a:prstGeom>
          <a:solidFill>
            <a:srgbClr val="20252A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331720"/>
            <a:ext cx="310896" cy="310896"/>
          </a:xfrm>
          <a:prstGeom prst="ellipse">
            <a:avLst/>
          </a:prstGeom>
          <a:solidFill>
            <a:srgbClr val="4FA3E3"/>
          </a:solidFill>
          <a:ln/>
        </p:spPr>
      </p:sp>
      <p:pic>
        <p:nvPicPr>
          <p:cNvPr id="6" name="Image 0" descr="slide_assets/icon_regis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719" y="2365919"/>
            <a:ext cx="242499" cy="2424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52144" y="2295144"/>
            <a:ext cx="4334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database/installed.txt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971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D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htop</a:t>
            </a:r>
            <a:r>
              <a:rPr lang="en-US" sz="11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v3.4.1  •  installé via configure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3474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D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ripgrep</a:t>
            </a:r>
            <a:r>
              <a:rPr lang="en-US" sz="11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v14.1.0  •  installé via cargo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3977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3ED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jq</a:t>
            </a:r>
            <a:r>
              <a:rPr lang="en-US" sz="11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v1.7.1  •  installé via make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49377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installation réussie enregistre : nom, version, méthode et fichiers installés.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PRATIQUE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36693"/>
            <a:ext cx="10895245" cy="672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 — installation de htop </a:t>
            </a: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depuis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archive   </a:t>
            </a:r>
            <a:endParaRPr lang="en-US" sz="3200" dirty="0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A718DB7A-39BA-48B1-A236-BDA26688B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196" y="1481668"/>
            <a:ext cx="4495803" cy="2509519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A8E0F806-62DC-408E-B5C2-821499DDF1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196" y="4006626"/>
            <a:ext cx="4495802" cy="2509519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A7AC08BB-4D97-4129-B6D1-9DD3A7EE95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1497108"/>
            <a:ext cx="4495802" cy="2494078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D140B7CD-7C1D-4EAE-AB8F-50C92DA773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4006626"/>
            <a:ext cx="4495800" cy="24940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Reconnaissance automatique du format d'archive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93776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L'extension du fichier suffit à choisir la bonne commande de décompression.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3576218" cy="960120"/>
          </a:xfrm>
          <a:prstGeom prst="roundRect">
            <a:avLst>
              <a:gd name="adj" fmla="val 6667"/>
            </a:avLst>
          </a:prstGeom>
          <a:solidFill>
            <a:srgbClr val="262B30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491740"/>
            <a:ext cx="365760" cy="365760"/>
          </a:xfrm>
          <a:prstGeom prst="ellipse">
            <a:avLst/>
          </a:prstGeom>
          <a:solidFill>
            <a:srgbClr val="4FA3E3"/>
          </a:solidFill>
          <a:ln/>
        </p:spPr>
      </p:sp>
      <p:pic>
        <p:nvPicPr>
          <p:cNvPr id="7" name="Image 0" descr="slide_assets/icon_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34" y="253197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2322576"/>
            <a:ext cx="2707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ED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.tar.gz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88720" y="2688336"/>
            <a:ext cx="2707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 -xzf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07738" y="2194560"/>
            <a:ext cx="3576218" cy="960120"/>
          </a:xfrm>
          <a:prstGeom prst="roundRect">
            <a:avLst>
              <a:gd name="adj" fmla="val 6667"/>
            </a:avLst>
          </a:prstGeom>
          <a:solidFill>
            <a:srgbClr val="262B30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90618" y="2491740"/>
            <a:ext cx="365760" cy="365760"/>
          </a:xfrm>
          <a:prstGeom prst="ellipse">
            <a:avLst/>
          </a:prstGeom>
          <a:solidFill>
            <a:srgbClr val="4FA3E3"/>
          </a:solidFill>
          <a:ln/>
        </p:spPr>
      </p:sp>
      <p:pic>
        <p:nvPicPr>
          <p:cNvPr id="12" name="Image 1" descr="slide_assets/icon_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53197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93538" y="2322576"/>
            <a:ext cx="2707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ED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.tar.xz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993538" y="2688336"/>
            <a:ext cx="2707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 -xJf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12557" y="2194560"/>
            <a:ext cx="3576218" cy="960120"/>
          </a:xfrm>
          <a:prstGeom prst="roundRect">
            <a:avLst>
              <a:gd name="adj" fmla="val 6667"/>
            </a:avLst>
          </a:prstGeom>
          <a:solidFill>
            <a:srgbClr val="262B30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95437" y="2491740"/>
            <a:ext cx="365760" cy="365760"/>
          </a:xfrm>
          <a:prstGeom prst="ellipse">
            <a:avLst/>
          </a:prstGeom>
          <a:solidFill>
            <a:srgbClr val="4FA3E3"/>
          </a:solidFill>
          <a:ln/>
        </p:spPr>
      </p:sp>
      <p:pic>
        <p:nvPicPr>
          <p:cNvPr id="17" name="Image 2" descr="slide_assets/icon_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5670" y="253197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98357" y="2322576"/>
            <a:ext cx="2707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ED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.tar.bz2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798357" y="2688336"/>
            <a:ext cx="2707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 -xjf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02920" y="3337560"/>
            <a:ext cx="3576218" cy="960120"/>
          </a:xfrm>
          <a:prstGeom prst="roundRect">
            <a:avLst>
              <a:gd name="adj" fmla="val 6667"/>
            </a:avLst>
          </a:prstGeom>
          <a:solidFill>
            <a:srgbClr val="262B30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85800" y="3634740"/>
            <a:ext cx="365760" cy="365760"/>
          </a:xfrm>
          <a:prstGeom prst="ellipse">
            <a:avLst/>
          </a:prstGeom>
          <a:solidFill>
            <a:srgbClr val="4FA3E3"/>
          </a:solidFill>
          <a:ln/>
        </p:spPr>
      </p:sp>
      <p:pic>
        <p:nvPicPr>
          <p:cNvPr id="22" name="Image 3" descr="slide_assets/icon_term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034" y="3674974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88720" y="3465576"/>
            <a:ext cx="2707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ED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.zip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88720" y="3831336"/>
            <a:ext cx="2707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unzip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07738" y="3337560"/>
            <a:ext cx="3576218" cy="960120"/>
          </a:xfrm>
          <a:prstGeom prst="roundRect">
            <a:avLst>
              <a:gd name="adj" fmla="val 6667"/>
            </a:avLst>
          </a:prstGeom>
          <a:solidFill>
            <a:srgbClr val="262B30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490618" y="3634740"/>
            <a:ext cx="365760" cy="365760"/>
          </a:xfrm>
          <a:prstGeom prst="ellipse">
            <a:avLst/>
          </a:prstGeom>
          <a:solidFill>
            <a:srgbClr val="4FA3E3"/>
          </a:solidFill>
          <a:ln/>
        </p:spPr>
      </p:sp>
      <p:pic>
        <p:nvPicPr>
          <p:cNvPr id="27" name="Image 4" descr="slide_assets/icon_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852" y="3674974"/>
            <a:ext cx="285293" cy="28529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993538" y="3465576"/>
            <a:ext cx="2707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ED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.7z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993538" y="3831336"/>
            <a:ext cx="2707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7z x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112557" y="3337560"/>
            <a:ext cx="3576218" cy="960120"/>
          </a:xfrm>
          <a:prstGeom prst="roundRect">
            <a:avLst>
              <a:gd name="adj" fmla="val 6667"/>
            </a:avLst>
          </a:prstGeom>
          <a:solidFill>
            <a:srgbClr val="262B30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295437" y="3634740"/>
            <a:ext cx="365760" cy="365760"/>
          </a:xfrm>
          <a:prstGeom prst="ellipse">
            <a:avLst/>
          </a:prstGeom>
          <a:solidFill>
            <a:srgbClr val="4FA3E3"/>
          </a:solidFill>
          <a:ln/>
        </p:spPr>
      </p:sp>
      <p:pic>
        <p:nvPicPr>
          <p:cNvPr id="32" name="Image 5" descr="slide_assets/icon_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670" y="3674974"/>
            <a:ext cx="285293" cy="285293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798357" y="3465576"/>
            <a:ext cx="2707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ED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.tar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798357" y="3831336"/>
            <a:ext cx="2707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 -xf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502920" y="4480560"/>
            <a:ext cx="3576218" cy="960120"/>
          </a:xfrm>
          <a:prstGeom prst="roundRect">
            <a:avLst>
              <a:gd name="adj" fmla="val 6667"/>
            </a:avLst>
          </a:prstGeom>
          <a:solidFill>
            <a:srgbClr val="262B30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85800" y="4777740"/>
            <a:ext cx="365760" cy="365760"/>
          </a:xfrm>
          <a:prstGeom prst="ellipse">
            <a:avLst/>
          </a:prstGeom>
          <a:solidFill>
            <a:srgbClr val="4FA3E3"/>
          </a:solidFill>
          <a:ln/>
        </p:spPr>
      </p:sp>
      <p:pic>
        <p:nvPicPr>
          <p:cNvPr id="37" name="Image 6" descr="slide_assets/icon_term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034" y="4817974"/>
            <a:ext cx="285293" cy="285293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188720" y="4608576"/>
            <a:ext cx="2707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ED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.rar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1188720" y="4974336"/>
            <a:ext cx="2707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unrar x</a:t>
            </a:r>
            <a:endParaRPr lang="en-US" sz="1150" dirty="0"/>
          </a:p>
        </p:txBody>
      </p:sp>
      <p:sp>
        <p:nvSpPr>
          <p:cNvPr id="40" name="Shape 31"/>
          <p:cNvSpPr/>
          <p:nvPr/>
        </p:nvSpPr>
        <p:spPr>
          <a:xfrm>
            <a:off x="4307738" y="4480560"/>
            <a:ext cx="3576218" cy="960120"/>
          </a:xfrm>
          <a:prstGeom prst="roundRect">
            <a:avLst>
              <a:gd name="adj" fmla="val 6667"/>
            </a:avLst>
          </a:prstGeom>
          <a:solidFill>
            <a:srgbClr val="262B30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4490618" y="4777740"/>
            <a:ext cx="365760" cy="365760"/>
          </a:xfrm>
          <a:prstGeom prst="ellipse">
            <a:avLst/>
          </a:prstGeom>
          <a:solidFill>
            <a:srgbClr val="4FA3E3"/>
          </a:solidFill>
          <a:ln/>
        </p:spPr>
      </p:sp>
      <p:pic>
        <p:nvPicPr>
          <p:cNvPr id="42" name="Image 7" descr="slide_assets/icon_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4817974"/>
            <a:ext cx="285293" cy="285293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4993538" y="4608576"/>
            <a:ext cx="2707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ED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.tgz</a:t>
            </a:r>
            <a:endParaRPr lang="en-US" sz="1250" dirty="0"/>
          </a:p>
        </p:txBody>
      </p:sp>
      <p:sp>
        <p:nvSpPr>
          <p:cNvPr id="44" name="Text 34"/>
          <p:cNvSpPr/>
          <p:nvPr/>
        </p:nvSpPr>
        <p:spPr>
          <a:xfrm>
            <a:off x="4993538" y="4974336"/>
            <a:ext cx="2707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 -xzf</a:t>
            </a:r>
            <a:endParaRPr lang="en-US" sz="1150" dirty="0"/>
          </a:p>
        </p:txBody>
      </p:sp>
      <p:sp>
        <p:nvSpPr>
          <p:cNvPr id="45" name="Shape 35"/>
          <p:cNvSpPr/>
          <p:nvPr/>
        </p:nvSpPr>
        <p:spPr>
          <a:xfrm>
            <a:off x="8112557" y="4480560"/>
            <a:ext cx="3576218" cy="960120"/>
          </a:xfrm>
          <a:prstGeom prst="roundRect">
            <a:avLst>
              <a:gd name="adj" fmla="val 6667"/>
            </a:avLst>
          </a:prstGeom>
          <a:solidFill>
            <a:srgbClr val="262B30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6" name="Shape 36"/>
          <p:cNvSpPr/>
          <p:nvPr/>
        </p:nvSpPr>
        <p:spPr>
          <a:xfrm>
            <a:off x="8295437" y="4777740"/>
            <a:ext cx="365760" cy="365760"/>
          </a:xfrm>
          <a:prstGeom prst="ellipse">
            <a:avLst/>
          </a:prstGeom>
          <a:solidFill>
            <a:srgbClr val="4FA3E3"/>
          </a:solidFill>
          <a:ln/>
        </p:spPr>
      </p:sp>
      <p:pic>
        <p:nvPicPr>
          <p:cNvPr id="47" name="Image 8" descr="slide_assets/icon_term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5670" y="4817974"/>
            <a:ext cx="285293" cy="285293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8798357" y="4608576"/>
            <a:ext cx="2707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ED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.tbz2</a:t>
            </a:r>
            <a:endParaRPr lang="en-US" sz="1250" dirty="0"/>
          </a:p>
        </p:txBody>
      </p:sp>
      <p:sp>
        <p:nvSpPr>
          <p:cNvPr id="49" name="Text 38"/>
          <p:cNvSpPr/>
          <p:nvPr/>
        </p:nvSpPr>
        <p:spPr>
          <a:xfrm>
            <a:off x="8798357" y="4974336"/>
            <a:ext cx="2707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 -xjf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408</Words>
  <Application>Microsoft Office PowerPoint</Application>
  <PresentationFormat>Grand écran</PresentationFormat>
  <Paragraphs>119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Mr Alien</cp:lastModifiedBy>
  <cp:revision>10</cp:revision>
  <dcterms:created xsi:type="dcterms:W3CDTF">2026-07-14T01:34:25Z</dcterms:created>
  <dcterms:modified xsi:type="dcterms:W3CDTF">2026-07-14T02:44:52Z</dcterms:modified>
</cp:coreProperties>
</file>